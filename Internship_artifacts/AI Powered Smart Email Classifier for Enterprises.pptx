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04792" y="5483294"/>
            <a:ext cx="1142971" cy="86346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4857" y="1315064"/>
            <a:ext cx="761980" cy="6083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54814" y="2285234"/>
            <a:ext cx="7682061" cy="64799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4550"/>
              </a:lnSpc>
              <a:spcBef>
                <a:spcPts val="0"/>
              </a:spcBef>
              <a:spcAft>
                <a:spcPts val="2080"/>
              </a:spcAft>
            </a:pPr>
            <a:r>
              <a:rPr sz="2800" b="1" dirty="0">
                <a:latin typeface="+mj-lt"/>
              </a:rPr>
              <a:t>AI Powered Smart Email Classifier for Enterprises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6222" y="4095749"/>
            <a:ext cx="761980" cy="190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2D3EE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0599" y="4006102"/>
            <a:ext cx="190495" cy="17929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343491" y="4095749"/>
            <a:ext cx="761980" cy="190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2D3EE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48222" y="3009654"/>
            <a:ext cx="5685744" cy="41934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3120"/>
              </a:spcAft>
            </a:pPr>
            <a:r>
              <a:rPr sz="1674" b="0" dirty="0">
                <a:latin typeface="Arial" panose="020B0604020202020204" pitchFamily="34" charset="0"/>
                <a:cs typeface="Arial" panose="020B0604020202020204" pitchFamily="34" charset="0"/>
              </a:rPr>
              <a:t>Automating Inbox Intelligence with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3202" y="4114799"/>
            <a:ext cx="2205286" cy="31534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latin typeface="Arial" panose="020B0604020202020204" pitchFamily="34" charset="0"/>
                <a:cs typeface="Arial" panose="020B0604020202020204" pitchFamily="34" charset="0"/>
              </a:rPr>
              <a:t> Guided by: Mousami Shrivastava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249519"/>
            <a:ext cx="3571747" cy="55573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1E3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Problem</a:t>
            </a:r>
            <a:r>
              <a:rPr lang="en-IN" sz="2392" b="1" dirty="0">
                <a:solidFill>
                  <a:srgbClr val="1E3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Statement</a:t>
            </a:r>
            <a:endParaRPr sz="2392" b="1" dirty="0">
              <a:solidFill>
                <a:srgbClr val="1E3A8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85313" y="398821"/>
            <a:ext cx="1858137" cy="354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435" b="0" dirty="0">
                <a:solidFill>
                  <a:srgbClr val="2563EB"/>
                </a:solidFill>
                <a:latin typeface="Roboto Flex"/>
              </a:rPr>
              <a:t>(</a:t>
            </a:r>
            <a:r>
              <a:rPr sz="1435" b="0" dirty="0">
                <a:solidFill>
                  <a:srgbClr val="2563EB"/>
                </a:solidFill>
                <a:latin typeface="Roboto Flex"/>
              </a:rPr>
              <a:t>Current Challenges</a:t>
            </a:r>
            <a:r>
              <a:rPr lang="en-IN" sz="1435" b="0" dirty="0">
                <a:solidFill>
                  <a:srgbClr val="2563EB"/>
                </a:solidFill>
                <a:latin typeface="Roboto Flex"/>
              </a:rPr>
              <a:t>)</a:t>
            </a:r>
            <a:endParaRPr sz="1435" b="0" dirty="0">
              <a:solidFill>
                <a:srgbClr val="2563EB"/>
              </a:solidFill>
              <a:latin typeface="Roboto Flex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584" y="1266824"/>
            <a:ext cx="5333866" cy="2047874"/>
          </a:xfrm>
          <a:prstGeom prst="roundRect">
            <a:avLst>
              <a:gd name="adj" fmla="val 111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348313" y="2224721"/>
            <a:ext cx="2047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52476" y="1607719"/>
            <a:ext cx="457188" cy="3850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62060" y="1571625"/>
            <a:ext cx="407659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EA580C"/>
                </a:solidFill>
                <a:latin typeface="Source Code Pro"/>
              </a:rPr>
              <a:t>Information Overhead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2060" y="1990724"/>
            <a:ext cx="4076598" cy="10191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Managing hundreds of thousands of customer and internal emails manually is inefficient and costly.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243" y="1266824"/>
            <a:ext cx="5333866" cy="2047874"/>
          </a:xfrm>
          <a:prstGeom prst="roundRect">
            <a:avLst>
              <a:gd name="adj" fmla="val 111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5290346" y="2224721"/>
            <a:ext cx="2047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1135" y="1607719"/>
            <a:ext cx="457188" cy="3850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00719" y="1571625"/>
            <a:ext cx="407659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DC2626"/>
                </a:solidFill>
                <a:latin typeface="Source Code Pro"/>
              </a:rPr>
              <a:t>Delayed Response Times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719" y="1990724"/>
            <a:ext cx="4076598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Critical Complaints and support tickets get buried under general inquiries or spam.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3619499"/>
            <a:ext cx="5333866" cy="2047874"/>
          </a:xfrm>
          <a:prstGeom prst="roundRect">
            <a:avLst>
              <a:gd name="adj" fmla="val 111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-348313" y="4577396"/>
            <a:ext cx="2047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476" y="3978442"/>
            <a:ext cx="457188" cy="34891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62060" y="3924299"/>
            <a:ext cx="407659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D97706"/>
                </a:solidFill>
                <a:latin typeface="Source Code Pro"/>
              </a:rPr>
              <a:t>Inconsistent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62060" y="4343400"/>
            <a:ext cx="4076598" cy="10191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Manual triage leads to human error, resulting in emails forwarded to the wrong departments.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8243" y="3619499"/>
            <a:ext cx="5333866" cy="2047874"/>
          </a:xfrm>
          <a:prstGeom prst="roundRect">
            <a:avLst>
              <a:gd name="adj" fmla="val 111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5290346" y="4577396"/>
            <a:ext cx="2047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1135" y="3978442"/>
            <a:ext cx="457188" cy="34891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00719" y="3924299"/>
            <a:ext cx="407659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2563EB"/>
                </a:solidFill>
                <a:latin typeface="Source Code Pro"/>
              </a:rPr>
              <a:t>Lack of Actionable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719" y="4343400"/>
            <a:ext cx="4076598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No real-time visibility into what customers are emailing about most frequently.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223103"/>
            <a:ext cx="2005614" cy="55573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1E3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93623" y="373408"/>
            <a:ext cx="1796646" cy="354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435" b="0" dirty="0">
                <a:solidFill>
                  <a:srgbClr val="2563EB"/>
                </a:solidFill>
                <a:latin typeface="Roboto Flex"/>
              </a:rPr>
              <a:t>(</a:t>
            </a:r>
            <a:r>
              <a:rPr sz="1435" b="0" dirty="0">
                <a:solidFill>
                  <a:srgbClr val="2563EB"/>
                </a:solidFill>
                <a:latin typeface="Roboto Flex"/>
              </a:rPr>
              <a:t>AI-Powered Triage</a:t>
            </a:r>
            <a:r>
              <a:rPr lang="en-IN" sz="1435" b="0" dirty="0">
                <a:solidFill>
                  <a:srgbClr val="2563EB"/>
                </a:solidFill>
                <a:latin typeface="Roboto Flex"/>
              </a:rPr>
              <a:t>)</a:t>
            </a:r>
            <a:endParaRPr sz="1435" b="0" dirty="0">
              <a:solidFill>
                <a:srgbClr val="2563EB"/>
              </a:solidFill>
              <a:latin typeface="Roboto Flex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584" y="1266824"/>
            <a:ext cx="5333866" cy="1714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181626" y="2058034"/>
            <a:ext cx="1714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52476" y="1625767"/>
            <a:ext cx="457188" cy="3489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62060" y="1571625"/>
            <a:ext cx="407659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2563EB"/>
                </a:solidFill>
                <a:latin typeface="Source Code Pro"/>
              </a:rPr>
              <a:t>Automated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2060" y="2148445"/>
            <a:ext cx="4076598" cy="37035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 dirty="0">
                <a:solidFill>
                  <a:srgbClr val="374151"/>
                </a:solidFill>
                <a:latin typeface="Roboto Flex"/>
              </a:rPr>
              <a:t> AI model trained on over </a:t>
            </a:r>
            <a:r>
              <a:rPr sz="1315" b="1" dirty="0">
                <a:solidFill>
                  <a:srgbClr val="1D4ED8"/>
                </a:solidFill>
                <a:latin typeface="Roboto Flex"/>
              </a:rPr>
              <a:t>2</a:t>
            </a:r>
            <a:r>
              <a:rPr lang="en-IN" sz="1315" b="1" dirty="0">
                <a:solidFill>
                  <a:srgbClr val="1D4ED8"/>
                </a:solidFill>
                <a:latin typeface="Roboto Flex"/>
              </a:rPr>
              <a:t> lakhs+</a:t>
            </a:r>
            <a:r>
              <a:rPr sz="1315" b="0" dirty="0">
                <a:solidFill>
                  <a:srgbClr val="374151"/>
                </a:solidFill>
                <a:latin typeface="Roboto Flex"/>
              </a:rPr>
              <a:t> historical emails.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243" y="1266824"/>
            <a:ext cx="5333866" cy="1714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5457033" y="2058034"/>
            <a:ext cx="1714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1135" y="1607719"/>
            <a:ext cx="457188" cy="3850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00719" y="1571625"/>
            <a:ext cx="407659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0891B2"/>
                </a:solidFill>
                <a:latin typeface="Source Code Pro"/>
              </a:rPr>
              <a:t>Instant Categorization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719" y="1990724"/>
            <a:ext cx="4076598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Emails evaluated in milliseconds and routed to correct department.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3276599"/>
            <a:ext cx="5333866" cy="1714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-181626" y="4067809"/>
            <a:ext cx="1714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476" y="3617494"/>
            <a:ext cx="457188" cy="38501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62060" y="3581400"/>
            <a:ext cx="407659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16A34A"/>
                </a:solidFill>
                <a:latin typeface="Source Code Pro"/>
              </a:rPr>
              <a:t>Spam Elimination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62060" y="4000500"/>
            <a:ext cx="4076598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Identifies and isolates unsolicited emails to keep queues clean.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8243" y="3276599"/>
            <a:ext cx="5333866" cy="1714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5457033" y="4067809"/>
            <a:ext cx="1714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1135" y="3635542"/>
            <a:ext cx="457188" cy="34891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00719" y="3581400"/>
            <a:ext cx="407659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9333EA"/>
                </a:solidFill>
                <a:latin typeface="Source Code Pro"/>
              </a:rPr>
              <a:t>Interactive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719" y="4000500"/>
            <a:ext cx="4076598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User-friendly dashboard for managers to monitor email traffic and model confidence.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5800" y="369835"/>
            <a:ext cx="4900444" cy="55573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1E3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5 Core Categories &amp; 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447800"/>
            <a:ext cx="5486262" cy="4762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705432" y="24764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34026" y="2286000"/>
            <a:ext cx="464808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DC2626"/>
                </a:solidFill>
                <a:latin typeface="Source Code Pro"/>
              </a:rPr>
              <a:t>Complaint </a:t>
            </a:r>
            <a:r>
              <a:rPr sz="956" b="0">
                <a:solidFill>
                  <a:srgbClr val="6B7280"/>
                </a:solidFill>
                <a:latin typeface="Source Code Pro"/>
              </a:rPr>
              <a:t>(High Priority)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34026" y="2552700"/>
            <a:ext cx="464808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 Flex"/>
              </a:rPr>
              <a:t>Escalate immediately to customer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05432" y="312420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34026" y="2933699"/>
            <a:ext cx="464808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563EB"/>
                </a:solidFill>
                <a:latin typeface="Source Code Pro"/>
              </a:rPr>
              <a:t>Support </a:t>
            </a:r>
            <a:r>
              <a:rPr sz="956" b="0">
                <a:solidFill>
                  <a:srgbClr val="6B7280"/>
                </a:solidFill>
                <a:latin typeface="Source Code Pro"/>
              </a:rPr>
              <a:t>(High Priority)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4026" y="3200400"/>
            <a:ext cx="464808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 Flex"/>
              </a:rPr>
              <a:t>Route to technical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432" y="377190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34026" y="3581400"/>
            <a:ext cx="464808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6A34A"/>
                </a:solidFill>
                <a:latin typeface="Source Code Pro"/>
              </a:rPr>
              <a:t>Feedback </a:t>
            </a:r>
            <a:r>
              <a:rPr sz="956" b="0">
                <a:solidFill>
                  <a:srgbClr val="6B7280"/>
                </a:solidFill>
                <a:latin typeface="Source Code Pro"/>
              </a:rPr>
              <a:t>(Medium Priority)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4026" y="3848099"/>
            <a:ext cx="464808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 Flex"/>
              </a:rPr>
              <a:t>Analyze for product improvements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05432" y="441960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34026" y="4229100"/>
            <a:ext cx="464808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D97706"/>
                </a:solidFill>
                <a:latin typeface="Source Code Pro"/>
              </a:rPr>
              <a:t>Other </a:t>
            </a:r>
            <a:r>
              <a:rPr sz="956" b="0">
                <a:solidFill>
                  <a:srgbClr val="6B7280"/>
                </a:solidFill>
                <a:latin typeface="Source Code Pro"/>
              </a:rPr>
              <a:t>(Low Priority)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4026" y="4495799"/>
            <a:ext cx="464808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 Flex"/>
              </a:rPr>
              <a:t>Route to standard queue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05432" y="50672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34026" y="4876800"/>
            <a:ext cx="464808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B5563"/>
                </a:solidFill>
                <a:latin typeface="Source Code Pro"/>
              </a:rPr>
              <a:t>Spam </a:t>
            </a:r>
            <a:r>
              <a:rPr sz="956" b="0">
                <a:solidFill>
                  <a:srgbClr val="6B7280"/>
                </a:solidFill>
                <a:latin typeface="Source Code Pro"/>
              </a:rPr>
              <a:t>(Low Priority)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4026" y="5143500"/>
            <a:ext cx="464808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 Flex"/>
              </a:rPr>
              <a:t>Auto-archive / Delete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400050"/>
            <a:ext cx="4236801" cy="55573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1E3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409699"/>
            <a:ext cx="5181470" cy="485775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847" y="1883019"/>
            <a:ext cx="304792" cy="2344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53036" y="1809749"/>
            <a:ext cx="261930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2563EB"/>
                </a:solidFill>
                <a:latin typeface="Source Code Pro"/>
              </a:rPr>
              <a:t>Email Dataset (CSV)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036" y="2152650"/>
            <a:ext cx="261930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Raw email data input source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5847" y="2765913"/>
            <a:ext cx="304792" cy="1641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53036" y="2657475"/>
            <a:ext cx="329556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0891B2"/>
                </a:solidFill>
                <a:latin typeface="Source Code Pro"/>
              </a:rPr>
              <a:t>Jupyter 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36" y="3000375"/>
            <a:ext cx="329556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Text cleaning and feature extraction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5847" y="3565280"/>
            <a:ext cx="304792" cy="2608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53036" y="3505199"/>
            <a:ext cx="365750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6A34A"/>
                </a:solidFill>
                <a:latin typeface="Source Code Pro"/>
              </a:rPr>
              <a:t>SVM Model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36" y="3848099"/>
            <a:ext cx="3657508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Optimization and classification learning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5847" y="4426194"/>
            <a:ext cx="304792" cy="2344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53036" y="4352924"/>
            <a:ext cx="228594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9333EA"/>
                </a:solidFill>
                <a:latin typeface="Source Code Pro"/>
              </a:rPr>
              <a:t>Model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36" y="4695824"/>
            <a:ext cx="2285942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Saved as svm_model.pkl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95847" y="5282711"/>
            <a:ext cx="304792" cy="2168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53036" y="5200650"/>
            <a:ext cx="320031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EA580C"/>
                </a:solidFill>
                <a:latin typeface="Source Code Pro"/>
              </a:rPr>
              <a:t>Streamlit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36" y="5543550"/>
            <a:ext cx="320031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Interactive web app for predictions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255534"/>
            <a:ext cx="2180149" cy="55573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1E3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AI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27210" y="386290"/>
            <a:ext cx="1571199" cy="354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435" b="0" dirty="0">
                <a:solidFill>
                  <a:srgbClr val="2563EB"/>
                </a:solidFill>
                <a:latin typeface="Roboto Flex"/>
              </a:rPr>
              <a:t>(</a:t>
            </a:r>
            <a:r>
              <a:rPr sz="1435" b="0" dirty="0">
                <a:solidFill>
                  <a:srgbClr val="2563EB"/>
                </a:solidFill>
                <a:latin typeface="Roboto Flex"/>
              </a:rPr>
              <a:t>Under the Hood</a:t>
            </a:r>
            <a:r>
              <a:rPr lang="en-IN" sz="1435" b="0" dirty="0">
                <a:solidFill>
                  <a:srgbClr val="2563EB"/>
                </a:solidFill>
                <a:latin typeface="Roboto Flex"/>
              </a:rPr>
              <a:t>)</a:t>
            </a:r>
            <a:endParaRPr sz="1435" b="0" dirty="0">
              <a:solidFill>
                <a:srgbClr val="2563EB"/>
              </a:solidFill>
              <a:latin typeface="Roboto Flex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584" y="1266824"/>
            <a:ext cx="5257668" cy="1752599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200675" y="2077083"/>
            <a:ext cx="1752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52476" y="1607719"/>
            <a:ext cx="457188" cy="3850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62060" y="1571625"/>
            <a:ext cx="3467013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2563EB"/>
                </a:solidFill>
                <a:latin typeface="Source Code Pro"/>
              </a:rPr>
              <a:t>Model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2060" y="1990724"/>
            <a:ext cx="3467013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Linear SVM with TF-IDF vectorization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2060" y="2409825"/>
            <a:ext cx="3467013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Roboto Flex"/>
              </a:rPr>
              <a:t> </a:t>
            </a:r>
            <a:r>
              <a:rPr sz="1196" b="1">
                <a:solidFill>
                  <a:srgbClr val="1D4ED8"/>
                </a:solidFill>
                <a:latin typeface="Roboto Flex"/>
              </a:rPr>
              <a:t>8,000</a:t>
            </a:r>
            <a:r>
              <a:rPr sz="1196" b="0">
                <a:solidFill>
                  <a:srgbClr val="4B5563"/>
                </a:solidFill>
                <a:latin typeface="Roboto Flex"/>
              </a:rPr>
              <a:t> features with 3-word combinations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1" y="1266824"/>
            <a:ext cx="5257668" cy="1752599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514182" y="2077083"/>
            <a:ext cx="1752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3" y="1640806"/>
            <a:ext cx="457188" cy="3188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76918" y="1571625"/>
            <a:ext cx="329556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0891B2"/>
                </a:solidFill>
                <a:latin typeface="Source Code Pro"/>
              </a:rPr>
              <a:t>Massive Training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6918" y="1990724"/>
            <a:ext cx="329556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Perfectly balanced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6918" y="2393126"/>
            <a:ext cx="2760628" cy="3477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 dirty="0">
                <a:solidFill>
                  <a:srgbClr val="4B5563"/>
                </a:solidFill>
                <a:latin typeface="Roboto Flex"/>
              </a:rPr>
              <a:t> </a:t>
            </a:r>
            <a:r>
              <a:rPr sz="1196" b="1" dirty="0">
                <a:solidFill>
                  <a:srgbClr val="0E7490"/>
                </a:solidFill>
                <a:latin typeface="Roboto Flex"/>
              </a:rPr>
              <a:t>2</a:t>
            </a:r>
            <a:r>
              <a:rPr lang="en-IN" sz="1196" b="1" dirty="0">
                <a:solidFill>
                  <a:srgbClr val="0E7490"/>
                </a:solidFill>
                <a:latin typeface="Roboto Flex"/>
              </a:rPr>
              <a:t> lakh+</a:t>
            </a:r>
            <a:r>
              <a:rPr sz="1196" b="0" dirty="0">
                <a:solidFill>
                  <a:srgbClr val="4B5563"/>
                </a:solidFill>
                <a:latin typeface="Roboto Flex"/>
              </a:rPr>
              <a:t> emails trained and evaluated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3400425"/>
            <a:ext cx="5257668" cy="1752599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-200675" y="4210684"/>
            <a:ext cx="1752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476" y="3732296"/>
            <a:ext cx="457188" cy="40305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62060" y="3705224"/>
            <a:ext cx="3428914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16A34A"/>
                </a:solidFill>
                <a:latin typeface="Source Code Pro"/>
              </a:rPr>
              <a:t>Industry-Leading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62060" y="4124324"/>
            <a:ext cx="342891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Overall classification 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2060" y="4543425"/>
            <a:ext cx="3428914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Roboto Flex"/>
              </a:rPr>
              <a:t> </a:t>
            </a:r>
            <a:r>
              <a:rPr sz="1196" b="1">
                <a:solidFill>
                  <a:srgbClr val="15803D"/>
                </a:solidFill>
                <a:latin typeface="Roboto Flex"/>
              </a:rPr>
              <a:t>99.22%</a:t>
            </a:r>
            <a:r>
              <a:rPr sz="1196" b="0">
                <a:solidFill>
                  <a:srgbClr val="4B5563"/>
                </a:solidFill>
                <a:latin typeface="Roboto Flex"/>
              </a:rPr>
              <a:t> accuracy achieved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4441" y="3400425"/>
            <a:ext cx="5257668" cy="1752599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514182" y="4210684"/>
            <a:ext cx="1752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333" y="3741319"/>
            <a:ext cx="457188" cy="38501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76918" y="3705224"/>
            <a:ext cx="276218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9333EA"/>
                </a:solidFill>
                <a:latin typeface="Source Code Pro"/>
              </a:rPr>
              <a:t>Flawless Precision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6918" y="4124324"/>
            <a:ext cx="276218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Support and Spam categories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6918" y="4543425"/>
            <a:ext cx="2762180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Roboto Flex"/>
              </a:rPr>
              <a:t> Perfect </a:t>
            </a:r>
            <a:r>
              <a:rPr sz="1196" b="1">
                <a:solidFill>
                  <a:srgbClr val="7E22CE"/>
                </a:solidFill>
                <a:latin typeface="Roboto Flex"/>
              </a:rPr>
              <a:t>100%</a:t>
            </a:r>
            <a:r>
              <a:rPr sz="1196" b="0">
                <a:solidFill>
                  <a:srgbClr val="4B5563"/>
                </a:solidFill>
                <a:latin typeface="Roboto Flex"/>
              </a:rPr>
              <a:t> F1-score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352084"/>
            <a:ext cx="2229841" cy="55573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1E3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Explainable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24090" y="470375"/>
            <a:ext cx="1790362" cy="354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435" b="0" dirty="0">
                <a:solidFill>
                  <a:srgbClr val="2563EB"/>
                </a:solidFill>
                <a:latin typeface="Roboto Flex"/>
              </a:rPr>
              <a:t>(</a:t>
            </a:r>
            <a:r>
              <a:rPr sz="1435" b="0" dirty="0">
                <a:solidFill>
                  <a:srgbClr val="2563EB"/>
                </a:solidFill>
                <a:latin typeface="Roboto Flex"/>
              </a:rPr>
              <a:t>Trusting the Model</a:t>
            </a:r>
            <a:r>
              <a:rPr lang="en-IN" sz="1435" b="0" dirty="0">
                <a:solidFill>
                  <a:srgbClr val="2563EB"/>
                </a:solidFill>
                <a:latin typeface="Roboto Flex"/>
              </a:rPr>
              <a:t>)</a:t>
            </a:r>
            <a:endParaRPr sz="1435" b="0" dirty="0">
              <a:solidFill>
                <a:srgbClr val="2563EB"/>
              </a:solidFill>
              <a:latin typeface="Roboto Flex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584" y="1543050"/>
            <a:ext cx="3457488" cy="4572000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14377" y="1989426"/>
            <a:ext cx="533386" cy="3454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34947" y="1955622"/>
            <a:ext cx="2441630" cy="34958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>
                <a:solidFill>
                  <a:srgbClr val="2563EB"/>
                </a:solidFill>
                <a:latin typeface="Source Code Pro"/>
              </a:rPr>
              <a:t>Transparent Decision Making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76" y="2777106"/>
            <a:ext cx="2847903" cy="71372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1560"/>
              </a:spcAft>
            </a:pPr>
            <a:r>
              <a:rPr sz="1435" b="0" dirty="0">
                <a:solidFill>
                  <a:srgbClr val="374151"/>
                </a:solidFill>
                <a:latin typeface="Roboto Flex"/>
              </a:rPr>
              <a:t>The system doesn't act as a black box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377" y="3801451"/>
            <a:ext cx="2847903" cy="1076325"/>
          </a:xfrm>
          <a:prstGeom prst="roundRect">
            <a:avLst>
              <a:gd name="adj" fmla="val 1415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2969" y="4043362"/>
            <a:ext cx="2390715" cy="619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4B5563"/>
                </a:solidFill>
                <a:latin typeface="Roboto Flex"/>
              </a:rPr>
              <a:t>Clear visibility into classification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1865" y="1543050"/>
            <a:ext cx="3457488" cy="4572000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 w="330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6658" y="1963665"/>
            <a:ext cx="533386" cy="3970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10044" y="1828799"/>
            <a:ext cx="2162120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 dirty="0">
                <a:solidFill>
                  <a:srgbClr val="0891B2"/>
                </a:solidFill>
                <a:latin typeface="Source Code Pro"/>
              </a:rPr>
              <a:t>Keyword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6658" y="2762492"/>
            <a:ext cx="2847903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1560"/>
              </a:spcAft>
            </a:pPr>
            <a:r>
              <a:rPr sz="1435" b="0" dirty="0">
                <a:solidFill>
                  <a:srgbClr val="374151"/>
                </a:solidFill>
                <a:latin typeface="Roboto Flex"/>
              </a:rPr>
              <a:t>Algorithm highlights exact driving words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76658" y="3795713"/>
            <a:ext cx="2847903" cy="1082063"/>
          </a:xfrm>
          <a:prstGeom prst="roundRect">
            <a:avLst>
              <a:gd name="adj" fmla="val 12500"/>
            </a:avLst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00642" y="3906028"/>
            <a:ext cx="239071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196" b="0" dirty="0">
                <a:solidFill>
                  <a:srgbClr val="4B5563"/>
                </a:solidFill>
                <a:latin typeface="Roboto Flex"/>
              </a:rPr>
              <a:t>Example Keywords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43351" y="4367455"/>
            <a:ext cx="666733" cy="333375"/>
          </a:xfrm>
          <a:prstGeom prst="roundRect">
            <a:avLst>
              <a:gd name="adj" fmla="val 571371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38599" y="4331645"/>
            <a:ext cx="666733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E7490"/>
                </a:solidFill>
                <a:latin typeface="Roboto Flex"/>
              </a:rPr>
              <a:t>crash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25078" y="4367455"/>
            <a:ext cx="666733" cy="333375"/>
          </a:xfrm>
          <a:prstGeom prst="roundRect">
            <a:avLst>
              <a:gd name="adj" fmla="val 571371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81530" y="4344276"/>
            <a:ext cx="666733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E7490"/>
                </a:solidFill>
                <a:latin typeface="Roboto Flex"/>
              </a:rPr>
              <a:t>failed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24461" y="4361671"/>
            <a:ext cx="619109" cy="333375"/>
          </a:xfrm>
          <a:prstGeom prst="roundRect">
            <a:avLst>
              <a:gd name="adj" fmla="val 571371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05771" y="4326790"/>
            <a:ext cx="619109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 dirty="0">
                <a:solidFill>
                  <a:srgbClr val="0E7490"/>
                </a:solidFill>
                <a:latin typeface="Roboto Flex"/>
              </a:rPr>
              <a:t>login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6046" y="1517528"/>
            <a:ext cx="3457488" cy="4572000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9414" y="1959119"/>
            <a:ext cx="533386" cy="4061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62800" y="1857374"/>
            <a:ext cx="2162120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 dirty="0">
                <a:solidFill>
                  <a:srgbClr val="16A34A"/>
                </a:solidFill>
                <a:latin typeface="Source Code Pro"/>
              </a:rPr>
              <a:t>Confidence Scores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9414" y="2781093"/>
            <a:ext cx="2847903" cy="7429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1560"/>
              </a:spcAft>
            </a:pPr>
            <a:r>
              <a:rPr sz="1435" b="0" dirty="0">
                <a:solidFill>
                  <a:srgbClr val="374151"/>
                </a:solidFill>
                <a:latin typeface="Roboto Flex"/>
              </a:rPr>
              <a:t>Every prediction includes probability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25000" y="3795713"/>
            <a:ext cx="2847903" cy="1082063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58008" y="3876587"/>
            <a:ext cx="2390715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196" b="0" dirty="0">
                <a:solidFill>
                  <a:srgbClr val="4B5563"/>
                </a:solidFill>
                <a:latin typeface="Roboto Flex"/>
              </a:rPr>
              <a:t>Example Prediction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8576" y="3956956"/>
            <a:ext cx="917174" cy="62966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15803D"/>
                </a:solidFill>
                <a:latin typeface="Source Code Pro"/>
              </a:rPr>
              <a:t>98.5%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0588" y="4572242"/>
            <a:ext cx="2390715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 dirty="0">
                <a:solidFill>
                  <a:srgbClr val="4B5563"/>
                </a:solidFill>
                <a:latin typeface="Roboto Flex"/>
              </a:rPr>
              <a:t>Confident it's a Complaint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464344"/>
            <a:ext cx="5867253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1E3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Interactive Analytics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543050"/>
            <a:ext cx="3457488" cy="4572000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14376" y="1950244"/>
            <a:ext cx="533386" cy="366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0158" y="1828800"/>
            <a:ext cx="2162120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 dirty="0">
                <a:solidFill>
                  <a:srgbClr val="2563EB"/>
                </a:solidFill>
                <a:latin typeface="Source Code Pro"/>
              </a:rPr>
              <a:t>Real-time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1821" y="2478087"/>
            <a:ext cx="2847903" cy="1085850"/>
          </a:xfrm>
          <a:prstGeom prst="roundRect">
            <a:avLst>
              <a:gd name="adj" fmla="val 1403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00" y="2780481"/>
            <a:ext cx="304792" cy="2168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43111" y="2717586"/>
            <a:ext cx="102867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 dirty="0">
                <a:solidFill>
                  <a:srgbClr val="1D4ED8"/>
                </a:solidFill>
                <a:latin typeface="Source Code Pro"/>
              </a:rPr>
              <a:t>12,458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8168" y="3069643"/>
            <a:ext cx="1495210" cy="33810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374151"/>
                </a:solidFill>
                <a:latin typeface="Roboto Flex"/>
              </a:rPr>
              <a:t>Total Emails 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902" y="3723745"/>
            <a:ext cx="2847903" cy="1085850"/>
          </a:xfrm>
          <a:prstGeom prst="roundRect">
            <a:avLst>
              <a:gd name="adj" fmla="val 1403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4872" y="4067906"/>
            <a:ext cx="304792" cy="2579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81218" y="4027195"/>
            <a:ext cx="85722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 dirty="0">
                <a:solidFill>
                  <a:srgbClr val="15803D"/>
                </a:solidFill>
                <a:latin typeface="Source Code Pro"/>
              </a:rPr>
              <a:t>1,892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0795" y="4317739"/>
            <a:ext cx="1311314" cy="33810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374151"/>
                </a:solidFill>
                <a:latin typeface="Roboto Flex"/>
              </a:rPr>
              <a:t>Spam Blocked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903" y="5016713"/>
            <a:ext cx="2847903" cy="1085850"/>
          </a:xfrm>
          <a:prstGeom prst="roundRect">
            <a:avLst>
              <a:gd name="adj" fmla="val 1403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4872" y="5290008"/>
            <a:ext cx="304792" cy="26963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14557" y="5264144"/>
            <a:ext cx="85722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 dirty="0">
                <a:solidFill>
                  <a:srgbClr val="0E7490"/>
                </a:solidFill>
                <a:latin typeface="Source Code Pro"/>
              </a:rPr>
              <a:t>96.8%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98168" y="5580184"/>
            <a:ext cx="1576346" cy="33810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374151"/>
                </a:solidFill>
                <a:latin typeface="Roboto Flex"/>
              </a:rPr>
              <a:t>Average Confidence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1865" y="1543050"/>
            <a:ext cx="3457488" cy="4572000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 w="330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76658" y="1977853"/>
            <a:ext cx="533386" cy="3030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48968" y="1950244"/>
            <a:ext cx="205734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 dirty="0">
                <a:solidFill>
                  <a:srgbClr val="0891B2"/>
                </a:solidFill>
                <a:latin typeface="Source Code Pro"/>
              </a:rPr>
              <a:t>Volume Tracking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76658" y="2486026"/>
            <a:ext cx="2847903" cy="3333749"/>
          </a:xfrm>
          <a:prstGeom prst="roundRect">
            <a:avLst>
              <a:gd name="adj" fmla="val 5351"/>
            </a:avLst>
          </a:prstGeom>
          <a:gradFill rotWithShape="1">
            <a:gsLst>
              <a:gs pos="0">
                <a:srgbClr val="ECFEFF"/>
              </a:gs>
              <a:gs pos="100000">
                <a:srgbClr val="EFF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14857" y="2986086"/>
            <a:ext cx="761980" cy="39329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915601" y="3718901"/>
            <a:ext cx="2390715" cy="6286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1040"/>
              </a:spcBef>
              <a:spcAft>
                <a:spcPts val="0"/>
              </a:spcAft>
            </a:pPr>
            <a:r>
              <a:rPr sz="1315" b="1" dirty="0">
                <a:solidFill>
                  <a:srgbClr val="0E7490"/>
                </a:solidFill>
                <a:latin typeface="Source Code Pro"/>
              </a:rPr>
              <a:t>30-Day Interactive Charts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5252" y="4332119"/>
            <a:ext cx="2390715" cy="9334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 dirty="0">
                <a:solidFill>
                  <a:srgbClr val="4B5563"/>
                </a:solidFill>
                <a:latin typeface="Roboto Flex"/>
              </a:rPr>
              <a:t>Daily email volume trends and category distribution visualization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4146" y="1514475"/>
            <a:ext cx="3457488" cy="4572000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34177" y="1940657"/>
            <a:ext cx="533386" cy="40611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060489" y="1797844"/>
            <a:ext cx="2162120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 dirty="0">
                <a:solidFill>
                  <a:srgbClr val="16A34A"/>
                </a:solidFill>
                <a:latin typeface="Source Code Pro"/>
              </a:rPr>
              <a:t>Deep-Dive Analytics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29414" y="2610423"/>
            <a:ext cx="2847903" cy="3333749"/>
          </a:xfrm>
          <a:prstGeom prst="roundRect">
            <a:avLst>
              <a:gd name="adj" fmla="val 535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10404" y="2417874"/>
            <a:ext cx="2466913" cy="10191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1300"/>
              </a:spcAft>
            </a:pPr>
            <a:r>
              <a:rPr sz="1315" b="0" dirty="0">
                <a:solidFill>
                  <a:srgbClr val="374151"/>
                </a:solidFill>
                <a:latin typeface="Roboto Flex"/>
              </a:rPr>
              <a:t>Analyzes most influential keywords across categories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19906" y="3304980"/>
            <a:ext cx="2466913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781830" y="369179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67563" y="3390828"/>
            <a:ext cx="1971625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374151"/>
                </a:solidFill>
                <a:latin typeface="Roboto Flex"/>
              </a:rPr>
              <a:t>Complaint: </a:t>
            </a:r>
            <a:r>
              <a:rPr sz="1196" b="1" dirty="0">
                <a:solidFill>
                  <a:srgbClr val="374151"/>
                </a:solidFill>
                <a:latin typeface="Roboto Flex"/>
              </a:rPr>
              <a:t>delay, late, issue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19905" y="4265370"/>
            <a:ext cx="2466913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772305" y="4684543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62799" y="4370095"/>
            <a:ext cx="1971625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374151"/>
                </a:solidFill>
                <a:latin typeface="Roboto Flex"/>
              </a:rPr>
              <a:t>Support: </a:t>
            </a:r>
            <a:r>
              <a:rPr sz="1196" b="1" dirty="0">
                <a:solidFill>
                  <a:srgbClr val="374151"/>
                </a:solidFill>
                <a:latin typeface="Roboto Flex"/>
              </a:rPr>
              <a:t>reset, password, login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29433" y="5134144"/>
            <a:ext cx="2466913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Rounded Rectangle 36"/>
          <p:cNvSpPr/>
          <p:nvPr/>
        </p:nvSpPr>
        <p:spPr>
          <a:xfrm>
            <a:off x="8819929" y="550398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67563" y="5218234"/>
            <a:ext cx="1971625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374151"/>
                </a:solidFill>
                <a:latin typeface="Roboto Flex"/>
              </a:rPr>
              <a:t>Feedback: </a:t>
            </a:r>
            <a:r>
              <a:rPr sz="1196" b="1" dirty="0">
                <a:solidFill>
                  <a:srgbClr val="374151"/>
                </a:solidFill>
                <a:latin typeface="Roboto Flex"/>
              </a:rPr>
              <a:t>great, suggestion, improve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3" y="495300"/>
            <a:ext cx="3837371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1E3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Value &amp; ROI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600200"/>
            <a:ext cx="5257668" cy="1714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181626" y="2391410"/>
            <a:ext cx="1714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52476" y="1941094"/>
            <a:ext cx="457188" cy="3850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62060" y="1904999"/>
            <a:ext cx="4000399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2563EB"/>
                </a:solidFill>
                <a:latin typeface="Source Code Pro"/>
              </a:rPr>
              <a:t>Massive Time Savings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2060" y="2324100"/>
            <a:ext cx="4000399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Eliminates thousands of hours of manual triage per 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1" y="1600200"/>
            <a:ext cx="5257668" cy="1714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5533231" y="2391410"/>
            <a:ext cx="1714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3" y="1944102"/>
            <a:ext cx="457188" cy="3789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76918" y="1904999"/>
            <a:ext cx="4000399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0891B2"/>
                </a:solidFill>
                <a:latin typeface="Source Code Pro"/>
              </a:rPr>
              <a:t>Improved SLAs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76918" y="2324100"/>
            <a:ext cx="4000399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Faster response times for critical support and angry customers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4362450"/>
            <a:ext cx="5257668" cy="1714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-181626" y="5153660"/>
            <a:ext cx="1714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476" y="4728911"/>
            <a:ext cx="457188" cy="3338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62060" y="4667249"/>
            <a:ext cx="4000399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16A34A"/>
                </a:solidFill>
                <a:latin typeface="Source Code Pro"/>
              </a:rPr>
              <a:t>Data-Driven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2060" y="5086350"/>
            <a:ext cx="4000399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Direct insight into customer feedback trends for marketing and product teams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1" y="4362450"/>
            <a:ext cx="5257668" cy="1714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533231" y="5153660"/>
            <a:ext cx="1714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67333" y="4712368"/>
            <a:ext cx="457188" cy="36696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76918" y="4667249"/>
            <a:ext cx="4000399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9333EA"/>
                </a:solidFill>
                <a:latin typeface="Source Code Pro"/>
              </a:rPr>
              <a:t>Cost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6918" y="5086350"/>
            <a:ext cx="4000399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Lightweight deployment structure using Python and Streamlit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498719"/>
            <a:ext cx="5953809" cy="55573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1E3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 Integration &amp; Deployment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1980" y="1543050"/>
            <a:ext cx="5105272" cy="39746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2971" y="1998244"/>
            <a:ext cx="457188" cy="3850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52556" y="2019299"/>
            <a:ext cx="222879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6A34A"/>
                </a:solidFill>
                <a:latin typeface="Source Code Pro"/>
              </a:rPr>
              <a:t>Current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2971" y="27622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33466" y="2647949"/>
            <a:ext cx="160015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 Flex"/>
              </a:rPr>
              <a:t>Live &amp; Deployed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2971" y="32956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33466" y="3181350"/>
            <a:ext cx="271455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 Flex"/>
              </a:rPr>
              <a:t>99.22% accuracy achieved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2971" y="38290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33466" y="3714750"/>
            <a:ext cx="231451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 Flex"/>
              </a:rPr>
              <a:t>Streamlit app fully built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2971" y="43624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33466" y="4248150"/>
            <a:ext cx="249548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 Flex"/>
              </a:rPr>
              <a:t>Ready for immediate 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2971" y="48958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33466" y="4781549"/>
            <a:ext cx="305744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 Flex"/>
              </a:rPr>
              <a:t>Real-time analytics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1" y="1543050"/>
            <a:ext cx="5105272" cy="39746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5432" y="2001252"/>
            <a:ext cx="457188" cy="37899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017" y="2019299"/>
            <a:ext cx="205734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563EB"/>
                </a:solidFill>
                <a:latin typeface="Source Code Pro"/>
              </a:rPr>
              <a:t>Future Scope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05432" y="27622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95927" y="2647949"/>
            <a:ext cx="257168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 Flex"/>
              </a:rPr>
              <a:t>Enterprise API Integration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05432" y="32956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95927" y="3181350"/>
            <a:ext cx="243833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 Flex"/>
              </a:rPr>
              <a:t>FastAPI model exposure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05432" y="38290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95927" y="3699258"/>
            <a:ext cx="2186752" cy="37388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435" dirty="0">
                <a:solidFill>
                  <a:srgbClr val="374151"/>
                </a:solidFill>
                <a:latin typeface="Roboto Flex"/>
              </a:rPr>
              <a:t>Zero Human Intervention</a:t>
            </a:r>
            <a:endParaRPr lang="en-IN" sz="1435" b="0" dirty="0">
              <a:solidFill>
                <a:srgbClr val="374151"/>
              </a:solidFill>
              <a:latin typeface="Roboto Flex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705432" y="43624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95927" y="4248150"/>
            <a:ext cx="375275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 Flex"/>
              </a:rPr>
              <a:t>Silent automated background routing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05432" y="48958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95927" y="4781549"/>
            <a:ext cx="325746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 Flex"/>
              </a:rPr>
              <a:t>Direct Outlook/Gmail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14857" y="2104410"/>
            <a:ext cx="761980" cy="4393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62340" y="3086100"/>
            <a:ext cx="3467013" cy="914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1560"/>
              </a:spcAft>
            </a:pPr>
            <a:r>
              <a:rPr sz="3827" b="1">
                <a:solidFill>
                  <a:srgbClr val="1E3A8A"/>
                </a:solidFill>
                <a:latin typeface="Source Code Pro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262" y="4229100"/>
            <a:ext cx="1219169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62340" y="4572000"/>
            <a:ext cx="3467013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4B5563"/>
                </a:solidFill>
                <a:latin typeface="Roboto Flex"/>
              </a:rPr>
              <a:t>Questions? Let's Discuss.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509</Words>
  <Application>Microsoft Office PowerPoint</Application>
  <PresentationFormat>Widescreen</PresentationFormat>
  <Paragraphs>115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Roboto Flex</vt:lpstr>
      <vt:lpstr>Source Code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Prince Pandit</cp:lastModifiedBy>
  <cp:revision>24</cp:revision>
  <dcterms:created xsi:type="dcterms:W3CDTF">2013-01-27T09:14:16Z</dcterms:created>
  <dcterms:modified xsi:type="dcterms:W3CDTF">2026-02-20T14:34:31Z</dcterms:modified>
  <cp:category/>
</cp:coreProperties>
</file>